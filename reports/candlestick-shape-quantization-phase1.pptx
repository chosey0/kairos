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331720"/>
            <a:ext cx="12191695" cy="64008"/>
          </a:xfrm>
          <a:prstGeom prst="rect">
            <a:avLst/>
          </a:prstGeom>
          <a:solidFill>
            <a:srgbClr val="2F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1F2937"/>
                </a:solidFill>
              </a:rPr>
              <a:t>Candlestick Shape Quantization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6032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>
                <a:solidFill>
                  <a:srgbClr val="5B6676"/>
                </a:solidFill>
              </a:rPr>
              <a:t>Phase 0–1 연구 결과: Shape Tokenizer 검증과 Final Gate 판정</a:t>
            </a:r>
          </a:p>
          <a:p>
            <a:r>
              <a:rPr sz="1600">
                <a:solidFill>
                  <a:srgbClr val="2F5DA8"/>
                </a:solidFill>
              </a:rPr>
              <a:t>가설 → 실험 (step-01 ~ step-03) → 검증 → 결론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852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5B6676"/>
                </a:solidFill>
              </a:rPr>
              <a:t>kairos research  ·  2026-07-07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F5DA8"/>
                </a:solidFill>
              </a:rPr>
              <a:t>OVERVIEW</a:t>
            </a:r>
          </a:p>
          <a:p>
            <a:r>
              <a:rPr sz="2800" b="1">
                <a:solidFill>
                  <a:srgbClr val="1F2937"/>
                </a:solidFill>
              </a:rPr>
              <a:t>연구 개요: 캔들을 예측하지 말고, 언어로 만들 수 있는가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1F2937"/>
                </a:solidFill>
              </a:rPr>
              <a:t>• 목적: 주요 지수의 OHLC 캔들을 예측 target이 아니라 학습 가능한 discrete representation으로 재구성할 수 있는지 검증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2F5DA8"/>
                </a:solidFill>
              </a:rPr>
              <a:t>• 핵심 질문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</a:rPr>
              <a:t>– 절대 가격·변동폭·시장 단위가 달라도, 캔들 내부 모양이 비슷하면 같은 shape token으로 묶을 수 있는가?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F2937"/>
                </a:solidFill>
              </a:rPr>
              <a:t>• 접근: OHLC → 상대 shape feature → discrete shape token → (이후) multi-candle motif vocabulary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F2937"/>
                </a:solidFill>
              </a:rPr>
              <a:t>• Shape core 입력 (2D):  λ_o = (open−low)/(high−low),  λ_c = (close−low)/(high−low)  →  (s1, s2) = (logit λ_o, logit λ_c)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F2937"/>
                </a:solidFill>
              </a:rPr>
              <a:t>• 설계 원칙: shape token은 순수하게(가격 수준·range 배제), rel_range·gap은 continuous side-channel로 분리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5B6676"/>
                </a:solidFill>
              </a:rPr>
              <a:t>• 제외 범위: 거래량 tokenization, 개별 종목 microstructure, 실거래 전략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F5DA8"/>
                </a:solidFill>
              </a:rPr>
              <a:t>HYPOTHESES</a:t>
            </a:r>
          </a:p>
          <a:p>
            <a:r>
              <a:rPr sz="2800" b="1">
                <a:solidFill>
                  <a:srgbClr val="1F2937"/>
                </a:solidFill>
              </a:rPr>
              <a:t>연구 가설과 현재 검증 상태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554480"/>
          <a:ext cx="10972798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2526"/>
                <a:gridCol w="5005136"/>
                <a:gridCol w="5005136"/>
              </a:tblGrid>
              <a:tr h="768096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가설</a:t>
                      </a:r>
                    </a:p>
                  </a:txBody>
                  <a:tcPr marT="25400" marB="25400"/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내용</a:t>
                      </a:r>
                    </a:p>
                  </a:txBody>
                  <a:tcPr marT="25400" marB="25400"/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현재 상태 (Phase 1 종료 시점)</a:t>
                      </a:r>
                    </a:p>
                  </a:txBody>
                  <a:tcPr marT="25400" marB="25400"/>
                </a:tc>
              </a:tr>
              <a:tr h="768096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H1</a:t>
                      </a:r>
                    </a:p>
                  </a:txBody>
                  <a:tcPr marT="25400" marB="25400"/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상대 shape는 가격 수준과 분리될 수 있다 — 서로 다른 지수의 캔들을 같은 shape 공간에 놓을 수 있다</a:t>
                      </a:r>
                    </a:p>
                  </a:txBody>
                  <a:tcPr marT="25400" marB="25400"/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A7A4A"/>
                          </a:solidFill>
                        </a:rPr>
                        <a:t>1차 근거 확보 — KR 지수 병합(D2)에서 reconstruction 저하 없음 (병합 페널티 ≈ 0.2%)</a:t>
                      </a:r>
                    </a:p>
                  </a:txBody>
                  <a:tcPr marT="25400" marB="25400"/>
                </a:tc>
              </a:tr>
              <a:tr h="768096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H2</a:t>
                      </a:r>
                    </a:p>
                  </a:txBody>
                  <a:tcPr marT="25400" marB="25400"/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반복되는 shape vocabulary가 존재한다 — 특정 형태가 반복되면 token으로 압축 가능</a:t>
                      </a:r>
                    </a:p>
                  </a:txBody>
                  <a:tcPr marT="25400" marB="25400"/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7A4A"/>
                          </a:solidFill>
                        </a:rPr>
                        <a:t>부분 검증 — K=32에서 dead token 0, effective vocab 24~34; 단 분봉은 boundary 5종이 73~81% 지배</a:t>
                      </a:r>
                    </a:p>
                  </a:txBody>
                  <a:tcPr marT="25400" marB="25400"/>
                </a:tc>
              </a:tr>
              <a:tr h="768096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H3</a:t>
                      </a:r>
                    </a:p>
                  </a:txBody>
                  <a:tcPr marT="25400" marB="25400"/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shape token은 position/range와 분리할 수 있다</a:t>
                      </a:r>
                    </a:p>
                  </a:txBody>
                  <a:tcPr marT="25400" marB="25400"/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5B6676"/>
                          </a:solidFill>
                        </a:rPr>
                        <a:t>설계 반영 완료 — side-channel 분리 구현, 기여 분리 측정은 Phase 5</a:t>
                      </a:r>
                    </a:p>
                  </a:txBody>
                  <a:tcPr marT="25400" marB="25400"/>
                </a:tc>
              </a:tr>
              <a:tr h="768096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H4</a:t>
                      </a:r>
                    </a:p>
                  </a:txBody>
                  <a:tcPr marT="25400" marB="25400"/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token sequence에 반복되는 multi-candle motif가 존재한다</a:t>
                      </a:r>
                    </a:p>
                  </a:txBody>
                  <a:tcPr marT="25400" marB="25400"/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5B6676"/>
                          </a:solidFill>
                        </a:rPr>
                        <a:t>미검증 — Phase 2 entropy 게이트와 Phase 3 surrogate 검정 예정</a:t>
                      </a:r>
                    </a:p>
                  </a:txBody>
                  <a:tcPr marT="25400" marB="25400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58064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5B6676"/>
                </a:solidFill>
              </a:rPr>
              <a:t>실패 판정 기준(사전 정의): 소수 token 집중 / held-out index에서 오차 급증 / VQ가 k-means 대비 이점 없음 / 순차 구조 없음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F5DA8"/>
                </a:solidFill>
              </a:rPr>
              <a:t>DATA &amp; PROTOCOL</a:t>
            </a:r>
          </a:p>
          <a:p>
            <a:r>
              <a:rPr sz="2800" b="1">
                <a:solidFill>
                  <a:srgbClr val="1F2937"/>
                </a:solidFill>
              </a:rPr>
              <a:t>데이터와 Leakage 프로토콜 (Phase 0)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463040"/>
          <a:ext cx="10972797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05572"/>
                <a:gridCol w="1115877"/>
                <a:gridCol w="2045776"/>
                <a:gridCol w="3905572"/>
              </a:tblGrid>
              <a:tr h="41148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Dataset (8개)</a:t>
                      </a:r>
                    </a:p>
                  </a:txBody>
                  <a:tcPr marT="25400" marB="25400"/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Interval</a:t>
                      </a:r>
                    </a:p>
                  </a:txBody>
                  <a:tcPr marT="25400" marB="25400"/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Rows</a:t>
                      </a:r>
                    </a:p>
                  </a:txBody>
                  <a:tcPr marT="25400" marB="25400"/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Split (train 구간)</a:t>
                      </a:r>
                    </a:p>
                  </a:txBody>
                  <a:tcPr marT="25400" marB="25400"/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</a:rPr>
                        <a:t>d1_kospi_daily / d1_kosdaq_daily</a:t>
                      </a:r>
                    </a:p>
                  </a:txBody>
                  <a:tcPr marT="25400" marB="25400"/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</a:rPr>
                        <a:t>1d</a:t>
                      </a:r>
                    </a:p>
                  </a:txBody>
                  <a:tcPr marT="25400" marB="25400"/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</a:rPr>
                        <a:t>9,420 / 7,365</a:t>
                      </a:r>
                    </a:p>
                  </a:txBody>
                  <a:tcPr marT="25400" marB="25400"/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</a:rPr>
                        <a:t>daily split: 2005–2016</a:t>
                      </a:r>
                    </a:p>
                  </a:txBody>
                  <a:tcPr marT="25400" marB="25400"/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</a:rPr>
                        <a:t>d1_nasdaq_daily / d1_spx_daily</a:t>
                      </a:r>
                    </a:p>
                  </a:txBody>
                  <a:tcPr marT="25400" marB="25400"/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</a:rPr>
                        <a:t>1d</a:t>
                      </a:r>
                    </a:p>
                  </a:txBody>
                  <a:tcPr marT="25400" marB="25400"/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</a:rPr>
                        <a:t>6,664 / 5,302</a:t>
                      </a:r>
                    </a:p>
                  </a:txBody>
                  <a:tcPr marT="25400" marB="25400"/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</a:rPr>
                        <a:t>daily split: 2005–2016</a:t>
                      </a:r>
                    </a:p>
                  </a:txBody>
                  <a:tcPr marT="25400" marB="25400"/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</a:rPr>
                        <a:t>d1_kospi_1m / d1_kosdaq_1m</a:t>
                      </a:r>
                    </a:p>
                  </a:txBody>
                  <a:tcPr marT="25400" marB="25400"/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</a:rPr>
                        <a:t>1m</a:t>
                      </a:r>
                    </a:p>
                  </a:txBody>
                  <a:tcPr marT="25400" marB="25400"/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</a:rPr>
                        <a:t>94,149 / 94,236</a:t>
                      </a:r>
                    </a:p>
                  </a:txBody>
                  <a:tcPr marT="25400" marB="25400"/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</a:rPr>
                        <a:t>minute split: 2025-07 ~ 2026-01</a:t>
                      </a:r>
                    </a:p>
                  </a:txBody>
                  <a:tcPr marT="25400" marB="25400"/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</a:rPr>
                        <a:t>d2_kr-kospi-kosdaq_daily (병합)</a:t>
                      </a:r>
                    </a:p>
                  </a:txBody>
                  <a:tcPr marT="25400" marB="25400"/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</a:rPr>
                        <a:t>1d</a:t>
                      </a:r>
                    </a:p>
                  </a:txBody>
                  <a:tcPr marT="25400" marB="25400"/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</a:rPr>
                        <a:t>16,785</a:t>
                      </a:r>
                    </a:p>
                  </a:txBody>
                  <a:tcPr marT="25400" marB="25400"/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</a:rPr>
                        <a:t>daily split (성분 concat)</a:t>
                      </a:r>
                    </a:p>
                  </a:txBody>
                  <a:tcPr marT="25400" marB="25400"/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</a:rPr>
                        <a:t>d2_kr-kospi-kosdaq_1m (병합)</a:t>
                      </a:r>
                    </a:p>
                  </a:txBody>
                  <a:tcPr marT="25400" marB="25400"/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</a:rPr>
                        <a:t>1m</a:t>
                      </a:r>
                    </a:p>
                  </a:txBody>
                  <a:tcPr marT="25400" marB="25400"/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</a:rPr>
                        <a:t>188,385</a:t>
                      </a:r>
                    </a:p>
                  </a:txBody>
                  <a:tcPr marT="25400" marB="25400"/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</a:rPr>
                        <a:t>minute split (성분 concat)</a:t>
                      </a:r>
                    </a:p>
                  </a:txBody>
                  <a:tcPr marT="25400" marB="25400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206240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</a:rPr>
              <a:t>• 데이터 출처: 국내 지수 Kiwoom, 해외 지수 KIS (프로토콜 JSON에 고정)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</a:rPr>
              <a:t>• Leakage 규칙: 시간 split 확정 전 모델 fit 금지, scaler·codebook·분위 경계는 train에서만 계산, random split 금지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</a:rPr>
              <a:t>• 재현성: seeds 7/17/37, cfg hash(canonical JSON sha256)로 run 디렉토리 고정, 일봉·분봉 결과는 상호 비교 금지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5B6676"/>
                </a:solidFill>
              </a:rPr>
              <a:t>• NASDAQ/SPX 1m은 표본 부족, DJI는 수집 실패로 제외 (step-01 판정)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F5DA8"/>
                </a:solidFill>
              </a:rPr>
              <a:t>EXPERIMENT</a:t>
            </a:r>
          </a:p>
          <a:p>
            <a:r>
              <a:rPr sz="2800" b="1">
                <a:solidFill>
                  <a:srgbClr val="1F2937"/>
                </a:solidFill>
              </a:rPr>
              <a:t>실험 1 — Shape Feature 검증 (step-01)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50" b="0">
                <a:solidFill>
                  <a:srgbClr val="1F2937"/>
                </a:solidFill>
              </a:rPr>
              <a:t>• (s1, s2) = (logit λ_o, logit λ_c) 분포가 tokenizer 입력으로 성립하는지 6개 dataset에서 독립 검증</a:t>
            </a:r>
          </a:p>
          <a:p>
            <a:pPr>
              <a:spcAft>
                <a:spcPts val="600"/>
              </a:spcAft>
            </a:pPr>
            <a:r>
              <a:rPr sz="1450" b="1">
                <a:solidFill>
                  <a:srgbClr val="2F5DA8"/>
                </a:solidFill>
              </a:rPr>
              <a:t>• 핵심 발견: boundary candle — open/close가 high/low에 붙은 캔들이 point mass를 형성 (winsorize 후 logit ±6.9 스파이크)</a:t>
            </a:r>
          </a:p>
          <a:p>
            <a:pPr lvl="1">
              <a:spcAft>
                <a:spcPts val="600"/>
              </a:spcAft>
            </a:pPr>
            <a:r>
              <a:rPr sz="1350" b="0">
                <a:solidFill>
                  <a:srgbClr val="1F2937"/>
                </a:solidFill>
              </a:rPr>
              <a:t>– daily 12~27%, 국내 1분봉은 73~81%가 boundary — 제거하면 안 되는 실제 반복 shape</a:t>
            </a:r>
          </a:p>
          <a:p>
            <a:pPr lvl="1">
              <a:spcAft>
                <a:spcPts val="600"/>
              </a:spcAft>
            </a:pPr>
            <a:r>
              <a:rPr sz="1350" b="0">
                <a:solidFill>
                  <a:srgbClr val="1F2937"/>
                </a:solidFill>
              </a:rPr>
              <a:t>– zero-range(high=low)는 0~0.26%로 희소 → special token 처리 확정</a:t>
            </a:r>
          </a:p>
        </p:txBody>
      </p:sp>
      <p:pic>
        <p:nvPicPr>
          <p:cNvPr id="5" name="Picture 4" descr="shape_core_h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291840"/>
            <a:ext cx="5120640" cy="2926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21792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>
                <a:solidFill>
                  <a:srgbClr val="5B6676"/>
                </a:solidFill>
              </a:rPr>
              <a:t>KOSPI daily — shape core (s1, s2) 분포와 boundary 스파이크</a:t>
            </a:r>
          </a:p>
        </p:txBody>
      </p:sp>
      <p:pic>
        <p:nvPicPr>
          <p:cNvPr id="7" name="Picture 6" descr="lambda_scat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0" y="3291840"/>
            <a:ext cx="2926080" cy="29260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17920" y="621792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>
                <a:solidFill>
                  <a:srgbClr val="5B6676"/>
                </a:solidFill>
              </a:rPr>
              <a:t>KOSPI daily — (λ_o, λ_c) scatter: 경계에 붙은 point mass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F5DA8"/>
                </a:solidFill>
              </a:rPr>
              <a:t>EXPERIMENT</a:t>
            </a:r>
          </a:p>
          <a:p>
            <a:r>
              <a:rPr sz="2800" b="1">
                <a:solidFill>
                  <a:srgbClr val="1F2937"/>
                </a:solidFill>
              </a:rPr>
              <a:t>실험 1b — 병합 분포 검증 (D2 설계 근거)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50" b="0">
                <a:solidFill>
                  <a:srgbClr val="1F2937"/>
                </a:solidFill>
              </a:rPr>
              <a:t>• 질문: KOSPI+KOSDAQ을 하나의 dataset으로 병합해도 shape 분포가 유지되는가? (Jensen-Shannon distance)</a:t>
            </a:r>
          </a:p>
          <a:p>
            <a:pPr>
              <a:spcAft>
                <a:spcPts val="600"/>
              </a:spcAft>
            </a:pPr>
            <a:r>
              <a:rPr sz="1450" b="1">
                <a:solidFill>
                  <a:srgbClr val="1A7A4A"/>
                </a:solidFill>
              </a:rPr>
              <a:t>• 같은 interval 병합: JSD 0.03~0.06 → 분포 유지, D2 병합 dataset 채택</a:t>
            </a:r>
          </a:p>
          <a:p>
            <a:pPr>
              <a:spcAft>
                <a:spcPts val="600"/>
              </a:spcAft>
            </a:pPr>
            <a:r>
              <a:rPr sz="1450" b="1">
                <a:solidFill>
                  <a:srgbClr val="B43B3B"/>
                </a:solidFill>
              </a:rPr>
              <a:t>• daily+1m 혼합: JSD 0.30~0.52 (1m이 row의 91.8% 지배) → 일봉·분봉은 절대 섞지 않는다</a:t>
            </a:r>
          </a:p>
        </p:txBody>
      </p:sp>
      <p:pic>
        <p:nvPicPr>
          <p:cNvPr id="5" name="Picture 4" descr="merge-check__kr_daily__s1-s2-dens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3017520"/>
            <a:ext cx="4572000" cy="3200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21792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>
                <a:solidFill>
                  <a:srgbClr val="5B6676"/>
                </a:solidFill>
              </a:rPr>
              <a:t>KR daily 병합 — 성분과 병합 분포가 겹침 (JSD ≈ 0.03~0.06)</a:t>
            </a:r>
          </a:p>
        </p:txBody>
      </p:sp>
      <p:pic>
        <p:nvPicPr>
          <p:cNvPr id="7" name="Picture 6" descr="merge-check__kr_all__s1-s2-dens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3017520"/>
            <a:ext cx="4572000" cy="3200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17920" y="621792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>
                <a:solidFill>
                  <a:srgbClr val="5B6676"/>
                </a:solidFill>
              </a:rPr>
              <a:t>4개 전부 병합 — daily 성분 분포가 붕괴 (JSD ≈ 0.30~0.52)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F5DA8"/>
                </a:solidFill>
              </a:rPr>
              <a:t>EXPERIMENT</a:t>
            </a:r>
          </a:p>
          <a:p>
            <a:r>
              <a:rPr sz="2800" b="1">
                <a:solidFill>
                  <a:srgbClr val="1F2937"/>
                </a:solidFill>
              </a:rPr>
              <a:t>실험 2 — Tokenizer Baselines (step-02)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50" b="0">
                <a:solidFill>
                  <a:srgbClr val="1F2937"/>
                </a:solidFill>
              </a:rPr>
              <a:t>• k-means vs GMM vs hand-crafted lambda bins, K ∈ {8, 16, 32}, boundary 포함/제외 A/B, 8개 dataset × 3 seeds</a:t>
            </a:r>
          </a:p>
          <a:p>
            <a:pPr>
              <a:spcAft>
                <a:spcPts val="600"/>
              </a:spcAft>
            </a:pPr>
            <a:r>
              <a:rPr sz="1450" b="1">
                <a:solidFill>
                  <a:srgbClr val="1A7A4A"/>
                </a:solidFill>
              </a:rPr>
              <a:t>• 결과: 모든 dataset·정책에서 kmeans K=32가 최선 — dead token 0, effective vocab 24~30, seed 간 편차 미미</a:t>
            </a:r>
          </a:p>
          <a:p>
            <a:pPr>
              <a:spcAft>
                <a:spcPts val="600"/>
              </a:spcAft>
            </a:pPr>
            <a:r>
              <a:rPr sz="1450" b="0">
                <a:solidFill>
                  <a:srgbClr val="1F2937"/>
                </a:solidFill>
              </a:rPr>
              <a:t>• hand-crafted bins는 분봉 boundary 포함 시 MSE 22~27로 폭발 → 균등 bin은 boundary-heavy 데이터에서 성립 불가</a:t>
            </a:r>
          </a:p>
          <a:p>
            <a:pPr>
              <a:spcAft>
                <a:spcPts val="600"/>
              </a:spcAft>
            </a:pPr>
            <a:r>
              <a:rPr sz="1450" b="1">
                <a:solidFill>
                  <a:srgbClr val="2F5DA8"/>
                </a:solidFill>
              </a:rPr>
              <a:t>• D2 병합 페널티 ≈ 0: 병합 MSE 0.6445 vs 최악 성분 0.6433 (+0.2%) → H1 1차 근거</a:t>
            </a:r>
          </a:p>
        </p:txBody>
      </p:sp>
      <p:pic>
        <p:nvPicPr>
          <p:cNvPr id="5" name="Picture 4" descr="baseline_reconstruction_m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360" y="3383280"/>
            <a:ext cx="6400800" cy="2926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63040" y="6309360"/>
            <a:ext cx="9235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>
                <a:solidFill>
                  <a:srgbClr val="5B6676"/>
                </a:solidFill>
              </a:rPr>
              <a:t>KOSPI daily — baseline reconstruction MSE (model × K × boundary policy)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F5DA8"/>
                </a:solidFill>
              </a:rPr>
              <a:t>EXPERIMENT</a:t>
            </a:r>
          </a:p>
          <a:p>
            <a:r>
              <a:rPr sz="2800" b="1">
                <a:solidFill>
                  <a:srgbClr val="1F2937"/>
                </a:solidFill>
              </a:rPr>
              <a:t>실험 2b — Cluster Shape Atlas: 분봉의 boundary 잠식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50" b="0">
                <a:solidFill>
                  <a:srgbClr val="1F2937"/>
                </a:solidFill>
              </a:rPr>
              <a:t>• kmeans K=32가 찾은 cluster prototype을 캔들 glyph로 시각화 (점유율 내림차순)</a:t>
            </a:r>
          </a:p>
          <a:p>
            <a:pPr>
              <a:spcAft>
                <a:spcPts val="600"/>
              </a:spcAft>
            </a:pPr>
            <a:r>
              <a:rPr sz="1450" b="1">
                <a:solidFill>
                  <a:srgbClr val="B43B3B"/>
                </a:solidFill>
              </a:rPr>
              <a:t>• 분봉 include_boundary: 32개 token 중 20개 이상이 boundary 좌표(λ=0.00/1.00) prototype → codebook 용량 잠식</a:t>
            </a:r>
          </a:p>
          <a:p>
            <a:pPr>
              <a:spcAft>
                <a:spcPts val="600"/>
              </a:spcAft>
            </a:pPr>
            <a:r>
              <a:rPr sz="1450" b="0">
                <a:solidFill>
                  <a:srgbClr val="1F2937"/>
                </a:solidFill>
              </a:rPr>
              <a:t>• 분봉에서 boundary의 비용은 MSE가 아니라 codebook 용량 — exclude의 MSE 개선은 daily 20~28% vs 분봉 -0.3~10%</a:t>
            </a:r>
          </a:p>
        </p:txBody>
      </p:sp>
      <p:pic>
        <p:nvPicPr>
          <p:cNvPr id="5" name="Picture 4" descr="token-shapes__d1_kospi_daily__kmeans__k32-include_boundary__seed-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960" y="3063240"/>
            <a:ext cx="4267200" cy="3200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26364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>
                <a:solidFill>
                  <a:srgbClr val="5B6676"/>
                </a:solidFill>
              </a:rPr>
              <a:t>KOSPI daily atlas — 다양한 interior shape가 codebook을 사용</a:t>
            </a:r>
          </a:p>
        </p:txBody>
      </p:sp>
      <p:pic>
        <p:nvPicPr>
          <p:cNvPr id="7" name="Picture 6" descr="token-shapes__d1_kospi_1m__kmeans__k32-include_boundary__seed-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1800" y="3063240"/>
            <a:ext cx="4267200" cy="3200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17920" y="626364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>
                <a:solidFill>
                  <a:srgbClr val="5B6676"/>
                </a:solidFill>
              </a:rPr>
              <a:t>KOSPI 1m atlas — 상위 token 대부분이 boundary shape (marubozu류)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F5DA8"/>
                </a:solidFill>
              </a:rPr>
              <a:t>DESIGN DECISION</a:t>
            </a:r>
          </a:p>
          <a:p>
            <a:r>
              <a:rPr sz="2800" b="1">
                <a:solidFill>
                  <a:srgbClr val="1F2937"/>
                </a:solidFill>
              </a:rPr>
              <a:t>설계 확정 — Boundary-Aware Vocabulary (비교군 B)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0876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1F2937"/>
                </a:solidFill>
              </a:rPr>
              <a:t>• boundary candle은 실제 반복 shape이므로 제거하지 않고, 연속 codebook에서 분리한다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F2937"/>
                </a:solidFill>
              </a:rPr>
              <a:t>• λ_o × λ_c 의 {low, interior, high} 9개 조합 중: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</a:rPr>
              <a:t>– interior × interior → 연속 codebook 학습 대상 (K=32)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</a:rPr>
              <a:t>– boundary 조합 8개 → 전용 discrete token (rule-based)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</a:rPr>
              <a:t>– zero-range → special token 1개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2F5DA8"/>
                </a:solidFill>
              </a:rPr>
              <a:t>• 전체 vocabulary = K + 8 + 1 = 41  — 모든 캔들이 token을 받고, boundary point mass가 codebook을 잠식하지 않음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F2937"/>
                </a:solidFill>
              </a:rPr>
              <a:t>• token id 배치:  0..31 interior  ·  32..39 boundary  ·  40 zero-range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7A4A"/>
                </a:solidFill>
              </a:rPr>
              <a:t>• 효과: 이전 exclude_boundary 근사의 결함(boundary row가 token을 못 받음)을 해결하면서 interior-only fit의 이점 유지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F5DA8"/>
                </a:solidFill>
              </a:rPr>
              <a:t>EXPERIMENT</a:t>
            </a:r>
          </a:p>
          <a:p>
            <a:r>
              <a:rPr sz="2800" b="1">
                <a:solidFill>
                  <a:srgbClr val="1F2937"/>
                </a:solidFill>
              </a:rPr>
              <a:t>실험 3 — VQ Final Gate (step-03): 5개 tokenizer 등가 비교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50" b="0">
                <a:solidFill>
                  <a:srgbClr val="1F2937"/>
                </a:solidFill>
              </a:rPr>
              <a:t>• 공통 wrapper(비교군 B) 위에서 interior codebook만 교체 — kmeans_boundary_aware / vqvae_latent_kmeans / FSQ[6,5] / BSQ 5-bit / coarse_fine 8×4</a:t>
            </a:r>
          </a:p>
          <a:p>
            <a:pPr>
              <a:spcAft>
                <a:spcPts val="600"/>
              </a:spcAft>
            </a:pPr>
            <a:r>
              <a:rPr sz="1450" b="0">
                <a:solidFill>
                  <a:srgbClr val="1F2937"/>
                </a:solidFill>
              </a:rPr>
              <a:t>• timebox 원칙: hyperparameter sweep 금지, 고정 스펙 1회로 게이트 판정 · 8 datasets × 3 seeds</a:t>
            </a:r>
          </a:p>
          <a:p>
            <a:pPr>
              <a:spcAft>
                <a:spcPts val="600"/>
              </a:spcAft>
            </a:pPr>
            <a:r>
              <a:rPr sz="1450" b="1">
                <a:solidFill>
                  <a:srgbClr val="1A7A4A"/>
                </a:solidFill>
              </a:rPr>
              <a:t>• Reconstruction: 8개 dataset 전부에서 kmeans_boundary_aware가 최선 (VQ latent가 그나마 근접, +4.7~8.0%)</a:t>
            </a:r>
          </a:p>
        </p:txBody>
      </p:sp>
      <p:pic>
        <p:nvPicPr>
          <p:cNvPr id="5" name="Picture 4" descr="reconstruction_mse_by_datas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8924" y="3154680"/>
            <a:ext cx="8603672" cy="3154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88720" y="6309360"/>
            <a:ext cx="9784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>
                <a:solidFill>
                  <a:srgbClr val="5B6676"/>
                </a:solidFill>
              </a:rPr>
              <a:t>Interior reconstruction MSE by dataset — 낮을수록 좋음, 전 dataset에서 KMeans-B 승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F5DA8"/>
                </a:solidFill>
              </a:rPr>
              <a:t>EXPERIMENT</a:t>
            </a:r>
          </a:p>
          <a:p>
            <a:r>
              <a:rPr sz="2800" b="1">
                <a:solidFill>
                  <a:srgbClr val="1F2937"/>
                </a:solidFill>
              </a:rPr>
              <a:t>실험 3 결과 — Stability와 Token Usage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50" b="0">
                <a:solidFill>
                  <a:srgbClr val="1F2937"/>
                </a:solidFill>
              </a:rPr>
              <a:t>• Seed stability: 신경망 계열은 KMeans-B보다 최대 41배 흔들림 · coarse_fine은 rule 고정 덕에 가장 안정</a:t>
            </a:r>
          </a:p>
          <a:p>
            <a:pPr>
              <a:spcAft>
                <a:spcPts val="600"/>
              </a:spcAft>
            </a:pPr>
            <a:r>
              <a:rPr sz="1450" b="0">
                <a:solidFill>
                  <a:srgbClr val="1F2937"/>
                </a:solidFill>
              </a:rPr>
              <a:t>• Token usage: coarse_fine만 effective vocab 소폭 우위(+0.05~1.4) · BSQ는 dead token 10.3개로 code collapse</a:t>
            </a:r>
          </a:p>
        </p:txBody>
      </p:sp>
      <p:pic>
        <p:nvPicPr>
          <p:cNvPr id="5" name="Picture 4" descr="seed_mse_std_by_datas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491484"/>
            <a:ext cx="5394960" cy="19781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26364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>
                <a:solidFill>
                  <a:srgbClr val="5B6676"/>
                </a:solidFill>
              </a:rPr>
              <a:t>Seed 간 MSE 표준편차 — coarse_fine &lt; KMeans-B ≪ 신경망 계열</a:t>
            </a:r>
          </a:p>
        </p:txBody>
      </p:sp>
      <p:pic>
        <p:nvPicPr>
          <p:cNvPr id="7" name="Picture 6" descr="effective_vocab_by_datas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3491484"/>
            <a:ext cx="5394960" cy="197815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17920" y="626364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>
                <a:solidFill>
                  <a:srgbClr val="5B6676"/>
                </a:solidFill>
              </a:rPr>
              <a:t>Effective vocabulary size — 의미 있는 개선 없음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F5DA8"/>
                </a:solidFill>
              </a:rPr>
              <a:t>VALIDATION</a:t>
            </a:r>
          </a:p>
          <a:p>
            <a:r>
              <a:rPr sz="2800" b="1">
                <a:solidFill>
                  <a:srgbClr val="1F2937"/>
                </a:solidFill>
              </a:rPr>
              <a:t>검증 — Phase 1 게이트 판정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508760"/>
          <a:ext cx="1097280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737360"/>
                <a:gridCol w="1737360"/>
                <a:gridCol w="1554480"/>
                <a:gridCol w="3200400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Tokenizer</a:t>
                      </a:r>
                    </a:p>
                  </a:txBody>
                  <a:tcPr marT="25400" marB="25400"/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Reconstruction</a:t>
                      </a:r>
                    </a:p>
                  </a:txBody>
                  <a:tcPr marT="25400" marB="25400"/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Seed stability</a:t>
                      </a:r>
                    </a:p>
                  </a:txBody>
                  <a:tcPr marT="25400" marB="25400"/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Token usage</a:t>
                      </a:r>
                    </a:p>
                  </a:txBody>
                  <a:tcPr marT="25400" marB="25400"/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판정</a:t>
                      </a:r>
                    </a:p>
                  </a:txBody>
                  <a:tcPr marT="25400" marB="25400"/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</a:rPr>
                        <a:t>kmeans_boundary_aware K=32</a:t>
                      </a:r>
                    </a:p>
                  </a:txBody>
                  <a:tcPr marT="25400" marB="25400"/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A7A4A"/>
                          </a:solidFill>
                        </a:rPr>
                        <a:t>8/8 최선</a:t>
                      </a:r>
                    </a:p>
                  </a:txBody>
                  <a:tcPr marT="25400" marB="25400"/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A7A4A"/>
                          </a:solidFill>
                        </a:rPr>
                        <a:t>안정</a:t>
                      </a:r>
                    </a:p>
                  </a:txBody>
                  <a:tcPr marT="25400" marB="25400"/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</a:rPr>
                        <a:t>기준</a:t>
                      </a:r>
                    </a:p>
                  </a:txBody>
                  <a:tcPr marT="25400" marB="25400"/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A7A4A"/>
                          </a:solidFill>
                        </a:rPr>
                        <a:t>main tokenizer 채택</a:t>
                      </a:r>
                    </a:p>
                  </a:txBody>
                  <a:tcPr marT="25400" marB="25400"/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</a:rPr>
                        <a:t>vqvae_latent_kmeans</a:t>
                      </a:r>
                    </a:p>
                  </a:txBody>
                  <a:tcPr marT="25400" marB="25400"/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B43B3B"/>
                          </a:solidFill>
                        </a:rPr>
                        <a:t>+4.7~8.0%</a:t>
                      </a:r>
                    </a:p>
                  </a:txBody>
                  <a:tcPr marT="25400" marB="25400"/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B43B3B"/>
                          </a:solidFill>
                        </a:rPr>
                        <a:t>3.6~41배 악화</a:t>
                      </a:r>
                    </a:p>
                  </a:txBody>
                  <a:tcPr marT="25400" marB="25400"/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B43B3B"/>
                          </a:solidFill>
                        </a:rPr>
                        <a:t>개선 없음</a:t>
                      </a:r>
                    </a:p>
                  </a:txBody>
                  <a:tcPr marT="25400" marB="25400"/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B43B3B"/>
                          </a:solidFill>
                        </a:rPr>
                        <a:t>기각</a:t>
                      </a:r>
                    </a:p>
                  </a:txBody>
                  <a:tcPr marT="25400" marB="25400"/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</a:rPr>
                        <a:t>fsq (levels [6,5])</a:t>
                      </a:r>
                    </a:p>
                  </a:txBody>
                  <a:tcPr marT="25400" marB="25400"/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B43B3B"/>
                          </a:solidFill>
                        </a:rPr>
                        <a:t>+25~50%</a:t>
                      </a:r>
                    </a:p>
                  </a:txBody>
                  <a:tcPr marT="25400" marB="25400"/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B43B3B"/>
                          </a:solidFill>
                        </a:rPr>
                        <a:t>악화</a:t>
                      </a:r>
                    </a:p>
                  </a:txBody>
                  <a:tcPr marT="25400" marB="25400"/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B43B3B"/>
                          </a:solidFill>
                        </a:rPr>
                        <a:t>하락</a:t>
                      </a:r>
                    </a:p>
                  </a:txBody>
                  <a:tcPr marT="25400" marB="25400"/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B43B3B"/>
                          </a:solidFill>
                        </a:rPr>
                        <a:t>기각</a:t>
                      </a:r>
                    </a:p>
                  </a:txBody>
                  <a:tcPr marT="25400" marB="25400"/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</a:rPr>
                        <a:t>bsq (5-bit)</a:t>
                      </a:r>
                    </a:p>
                  </a:txBody>
                  <a:tcPr marT="25400" marB="25400"/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B43B3B"/>
                          </a:solidFill>
                        </a:rPr>
                        <a:t>약 2.6배 악화</a:t>
                      </a:r>
                    </a:p>
                  </a:txBody>
                  <a:tcPr marT="25400" marB="25400"/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B43B3B"/>
                          </a:solidFill>
                        </a:rPr>
                        <a:t>최악</a:t>
                      </a:r>
                    </a:p>
                  </a:txBody>
                  <a:tcPr marT="25400" marB="25400"/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B43B3B"/>
                          </a:solidFill>
                        </a:rPr>
                        <a:t>dead 10.3</a:t>
                      </a:r>
                    </a:p>
                  </a:txBody>
                  <a:tcPr marT="25400" marB="25400"/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B43B3B"/>
                          </a:solidFill>
                        </a:rPr>
                        <a:t>기각</a:t>
                      </a:r>
                    </a:p>
                  </a:txBody>
                  <a:tcPr marT="25400" marB="25400"/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</a:rPr>
                        <a:t>coarse_fine (8×4)</a:t>
                      </a:r>
                    </a:p>
                  </a:txBody>
                  <a:tcPr marT="25400" marB="25400"/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B43B3B"/>
                          </a:solidFill>
                        </a:rPr>
                        <a:t>+39.5%</a:t>
                      </a:r>
                    </a:p>
                  </a:txBody>
                  <a:tcPr marT="25400" marB="25400"/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A7A4A"/>
                          </a:solidFill>
                        </a:rPr>
                        <a:t>최고 안정</a:t>
                      </a:r>
                    </a:p>
                  </a:txBody>
                  <a:tcPr marT="25400" marB="25400"/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A7A4A"/>
                          </a:solidFill>
                        </a:rPr>
                        <a:t>소폭 우위</a:t>
                      </a:r>
                    </a:p>
                  </a:txBody>
                  <a:tcPr marT="25400" marB="25400"/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2F5DA8"/>
                          </a:solidFill>
                        </a:rPr>
                        <a:t>주 tokenizer 아님 · Phase 3 저해상도 sequence로 보류</a:t>
                      </a:r>
                    </a:p>
                  </a:txBody>
                  <a:tcPr marT="25400" marB="25400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709160"/>
            <a:ext cx="10972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50" b="0">
                <a:solidFill>
                  <a:srgbClr val="1F2937"/>
                </a:solidFill>
              </a:rPr>
              <a:t>• 판정 근거: boundary 보존은 5개 모델이 공유하는 rule-based wrapper의 성과 — VQ 계열의 차별점이 아님</a:t>
            </a:r>
          </a:p>
          <a:p>
            <a:pPr>
              <a:spcAft>
                <a:spcPts val="600"/>
              </a:spcAft>
            </a:pPr>
            <a:r>
              <a:rPr sz="1350" b="0">
                <a:solidFill>
                  <a:srgbClr val="1F2937"/>
                </a:solidFill>
              </a:rPr>
              <a:t>• coarse_fine의 지표 우위는 구조적(rule 고정)이고 reconstruction 비용이 커서 교체 근거로 불충분</a:t>
            </a:r>
          </a:p>
          <a:p>
            <a:pPr>
              <a:spcAft>
                <a:spcPts val="600"/>
              </a:spcAft>
            </a:pPr>
            <a:r>
              <a:rPr sz="1350" b="0">
                <a:solidFill>
                  <a:srgbClr val="1A7A4A"/>
                </a:solidFill>
              </a:rPr>
              <a:t>• H1 추가 근거: D2 병합 codebook에서 KOSPI/KOSDAQ token 점유율 분포 유사, 특정 지수의 token 독점 없음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F5DA8"/>
                </a:solidFill>
              </a:rPr>
              <a:t>CONCLUSION</a:t>
            </a:r>
          </a:p>
          <a:p>
            <a:r>
              <a:rPr sz="2800" b="1">
                <a:solidFill>
                  <a:srgbClr val="1F2937"/>
                </a:solidFill>
              </a:rPr>
              <a:t>결론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0876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50" b="1">
                <a:solidFill>
                  <a:srgbClr val="1A7A4A"/>
                </a:solidFill>
              </a:rPr>
              <a:t>• Phase 1 최종 tokenizer: kmeans_boundary_aware K=32 (vocab 41 = interior 32 + boundary 8 + zero-range 1)</a:t>
            </a:r>
          </a:p>
          <a:p>
            <a:pPr>
              <a:spcAft>
                <a:spcPts val="600"/>
              </a:spcAft>
            </a:pPr>
            <a:r>
              <a:rPr sz="1550" b="0">
                <a:solidFill>
                  <a:srgbClr val="1F2937"/>
                </a:solidFill>
              </a:rPr>
              <a:t>• 2D shape core에서는 신경망 quantizer(VQ-VAE·FSQ·BSQ)가 직접 k-means 대비 이점이 없다 — 저차원 입력에선 encoder가 noise만 추가</a:t>
            </a:r>
          </a:p>
          <a:p>
            <a:pPr>
              <a:spcAft>
                <a:spcPts val="600"/>
              </a:spcAft>
            </a:pPr>
            <a:r>
              <a:rPr sz="1550" b="1">
                <a:solidFill>
                  <a:srgbClr val="2F5DA8"/>
                </a:solidFill>
              </a:rPr>
              <a:t>• boundary candle의 진짜 비용은 MSE가 아니라 codebook 용량 잠식 — 해결책은 모델이 아니라 boundary-aware vocabulary 조립</a:t>
            </a:r>
          </a:p>
          <a:p>
            <a:pPr>
              <a:spcAft>
                <a:spcPts val="600"/>
              </a:spcAft>
            </a:pPr>
            <a:r>
              <a:rPr sz="1550" b="0">
                <a:solidFill>
                  <a:srgbClr val="1F2937"/>
                </a:solidFill>
              </a:rPr>
              <a:t>• 같은 시장·같은 interval의 지수 병합은 무손실에 가깝다(D2) — H1 cross-index 일반화의 1차 검증</a:t>
            </a:r>
          </a:p>
          <a:p>
            <a:pPr>
              <a:spcAft>
                <a:spcPts val="600"/>
              </a:spcAft>
            </a:pPr>
            <a:r>
              <a:rPr sz="1550" b="0">
                <a:solidFill>
                  <a:srgbClr val="1F2937"/>
                </a:solidFill>
              </a:rPr>
              <a:t>• 일봉과 분봉은 다른 언어다 — 분포·boundary 비중·split이 모두 달라 별도 트랙으로 유지</a:t>
            </a:r>
          </a:p>
          <a:p>
            <a:pPr>
              <a:spcAft>
                <a:spcPts val="600"/>
              </a:spcAft>
            </a:pPr>
            <a:r>
              <a:rPr sz="1550" b="0">
                <a:solidFill>
                  <a:srgbClr val="1F2937"/>
                </a:solidFill>
              </a:rPr>
              <a:t>• 다음 단계 (Phase 2): kmeans_boundary_aware corpus + label store 구축, bigram entropy 게이트로 '캔들 sequence에 문법이 있는가' 검증</a:t>
            </a:r>
          </a:p>
          <a:p>
            <a:pPr lvl="1">
              <a:spcAft>
                <a:spcPts val="600"/>
              </a:spcAft>
            </a:pPr>
            <a:r>
              <a:rPr sz="1450" b="0">
                <a:solidFill>
                  <a:srgbClr val="5B6676"/>
                </a:solidFill>
              </a:rPr>
              <a:t>– 이후: Phase 3 motif vocabulary (BPE/Sequitur vs candle-LM, coarse_fine 저해상도 ablation, Williams Fractal leg segmentation 후보)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F5DA8"/>
                </a:solidFill>
              </a:rPr>
              <a:t>REFERENCES</a:t>
            </a:r>
          </a:p>
          <a:p>
            <a:r>
              <a:rPr sz="2800" b="1">
                <a:solidFill>
                  <a:srgbClr val="1F2937"/>
                </a:solidFill>
              </a:rPr>
              <a:t>참조 문헌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508760"/>
          <a:ext cx="10972799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57403"/>
                <a:gridCol w="1798819"/>
                <a:gridCol w="5216577"/>
              </a:tblGrid>
              <a:tr h="52578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문헌</a:t>
                      </a:r>
                    </a:p>
                  </a:txBody>
                  <a:tcPr marT="25400" marB="25400"/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출처</a:t>
                      </a:r>
                    </a:p>
                  </a:txBody>
                  <a:tcPr marT="25400" marB="25400"/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이 연구와의 연결</a:t>
                      </a:r>
                    </a:p>
                  </a:txBody>
                  <a:tcPr marT="25400" marB="25400"/>
                </a:tc>
              </a:tr>
              <a:tr h="52578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</a:rPr>
                        <a:t>Neural Discrete Representation Learning (VQ-VAE)</a:t>
                      </a:r>
                    </a:p>
                  </a:txBody>
                  <a:tcPr marT="25400" marB="25400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</a:rPr>
                        <a:t>arXiv:1711.00937</a:t>
                      </a:r>
                    </a:p>
                  </a:txBody>
                  <a:tcPr marT="25400" marB="25400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</a:rPr>
                        <a:t>shape_token = discrete latent code, codebook collapse 감시 지표</a:t>
                      </a:r>
                    </a:p>
                  </a:txBody>
                  <a:tcPr marT="25400" marB="25400"/>
                </a:tc>
              </a:tr>
              <a:tr h="52578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</a:rPr>
                        <a:t>Kronos: A Foundation Model for the Language of Financial Markets</a:t>
                      </a:r>
                    </a:p>
                  </a:txBody>
                  <a:tcPr marT="25400" marB="25400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</a:rPr>
                        <a:t>arXiv:2508.02739</a:t>
                      </a:r>
                    </a:p>
                  </a:txBody>
                  <a:tcPr marT="25400" marB="25400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</a:rPr>
                        <a:t>K-line 전용 tokenizer(BSQ)·coarse/fine 계층 token — step-03에서 우리 feature로 검증, candle-LM은 Phase 3 경로 B</a:t>
                      </a:r>
                    </a:p>
                  </a:txBody>
                  <a:tcPr marT="25400" marB="25400"/>
                </a:tc>
              </a:tr>
              <a:tr h="52578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</a:rPr>
                        <a:t>TimeVQVAE</a:t>
                      </a:r>
                    </a:p>
                  </a:txBody>
                  <a:tcPr marT="25400" marB="25400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</a:rPr>
                        <a:t>arXiv:2303.04743</a:t>
                      </a:r>
                    </a:p>
                  </a:txBody>
                  <a:tcPr marT="25400" marB="25400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</a:rPr>
                        <a:t>coarse/fine codebook 분리 아이디어의 원류</a:t>
                      </a:r>
                    </a:p>
                  </a:txBody>
                  <a:tcPr marT="25400" marB="25400"/>
                </a:tc>
              </a:tr>
              <a:tr h="52578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</a:rPr>
                        <a:t>pseudo-PCA for OHLC</a:t>
                      </a:r>
                    </a:p>
                  </a:txBody>
                  <a:tcPr marT="25400" marB="25400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</a:rPr>
                        <a:t>arXiv:2103.16908</a:t>
                      </a:r>
                    </a:p>
                  </a:txBody>
                  <a:tcPr marT="25400" marB="25400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</a:rPr>
                        <a:t>shape core (logit λ_o, logit λ_c)의 직접 근거 (constraint-free 표현)</a:t>
                      </a:r>
                    </a:p>
                  </a:txBody>
                  <a:tcPr marT="25400" marB="25400"/>
                </a:tc>
              </a:tr>
              <a:tr h="52578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</a:rPr>
                        <a:t>TS2Vec</a:t>
                      </a:r>
                    </a:p>
                  </a:txBody>
                  <a:tcPr marT="25400" marB="25400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</a:rPr>
                        <a:t>arXiv:2106.10466</a:t>
                      </a:r>
                    </a:p>
                  </a:txBody>
                  <a:tcPr marT="25400" marB="25400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</a:rPr>
                        <a:t>양자화 전 continuous representation baseline (Phase 5)</a:t>
                      </a:r>
                    </a:p>
                  </a:txBody>
                  <a:tcPr marT="25400" marB="25400"/>
                </a:tc>
              </a:tr>
              <a:tr h="52578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</a:rPr>
                        <a:t>GAF-CNN 계열</a:t>
                      </a:r>
                    </a:p>
                  </a:txBody>
                  <a:tcPr marT="25400" marB="25400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</a:rPr>
                        <a:t>arXiv:1901.05237 외</a:t>
                      </a:r>
                    </a:p>
                  </a:txBody>
                  <a:tcPr marT="25400" marB="25400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</a:rPr>
                        <a:t>전통 캔들 패턴 ground truth, 해석성 평가 방법론 (Phase 4)</a:t>
                      </a:r>
                    </a:p>
                  </a:txBody>
                  <a:tcPr marT="25400" marB="25400"/>
                </a:tc>
              </a:tr>
              <a:tr h="52578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</a:rPr>
                        <a:t>scikit-learn TimeSeriesSplit</a:t>
                      </a:r>
                    </a:p>
                  </a:txBody>
                  <a:tcPr marT="25400" marB="25400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</a:rPr>
                        <a:t>scikit-learn docs</a:t>
                      </a:r>
                    </a:p>
                  </a:txBody>
                  <a:tcPr marT="25400" marB="25400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</a:rPr>
                        <a:t>시간 기준 split·leakage 방지 프로토콜</a:t>
                      </a:r>
                    </a:p>
                  </a:txBody>
                  <a:tcPr marT="25400" marB="25400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6035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5B6676"/>
                </a:solidFill>
              </a:rPr>
              <a:t>상세 매핑: docs/candlestick-shape-quantization/07-evidence-and-references.md · 08-research-roadmap.md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